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64fe277c-e583-1dee-f210-cf762d5021c8}">
          <p14:sldIdLst>
            <p14:sldId id="256"/>
          </p14:sldIdLst>
        </p14:section>
        <p14:section name="Introduction" id="{45dc10bf-dca3-5250-845a-f53e7edd3b0a}">
          <p14:sldIdLst>
            <p14:sldId id="257"/>
          </p14:sldIdLst>
        </p14:section>
        <p14:section name="Changes since 30%" id="{748b5bea-87a5-75f8-9226-a9fe18c495ca}">
          <p14:sldIdLst>
            <p14:sldId id="258"/>
            <p14:sldId id="259"/>
            <p14:sldId id="260"/>
            <p14:sldId id="261"/>
            <p14:sldId id="262"/>
          </p14:sldIdLst>
        </p14:section>
        <p14:section name="Implemented modules" id="{409d35e7-53c9-dd9c-1261-bc4843cedb79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esting" id="{f47ed746-437c-e496-d4f1-59bdc3846771}">
          <p14:sldIdLst>
            <p14:sldId id="269"/>
            <p14:sldId id="270"/>
            <p14:sldId id="271"/>
          </p14:sldIdLst>
        </p14:section>
        <p14:section name="Automated testing" id="{4ed8cc1b-6b61-aefe-fb55-0e21e496c2f4}">
          <p14:sldIdLst>
            <p14:sldId id="272"/>
            <p14:sldId id="273"/>
            <p14:sldId id="274"/>
            <p14:sldId id="275"/>
            <p14:sldId id="276"/>
          </p14:sldIdLst>
        </p14:section>
        <p14:section name="AI / ML techniques" id="{96a5b329-0705-68ed-f062-a844466c5dab}">
          <p14:sldIdLst>
            <p14:sldId id="277"/>
            <p14:sldId id="278"/>
            <p14:sldId id="279"/>
          </p14:sldIdLst>
        </p14:section>
        <p14:section name="Next steps" id="{7451edcd-23a1-746c-33a0-4757da8b73c0}">
          <p14:sldIdLst>
            <p14:sldId id="280"/>
            <p14:sldId id="281"/>
          </p14:sldIdLst>
        </p14:section>
        <p14:section name="Close" id="{f2aa51d8-5fec-ddd3-5ccd-1f9373046bcb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MalTwin · 60% Implementation Evaluation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MalTwin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9260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AI-based malware variant detection for Industrial IoT using Digital Twins and visual analysis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60% Implementation Evaluation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Iman Fatima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CIIT/SP23-BCT-021/ISB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Maaz Malik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CIIT/SP23-BCT-025/ISB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Supervisor: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Ms. Najla Raza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5"/>
                </a:solidFill>
              </a:rPr>
              <a:t>BS Cyber Security · COMSATS University Islamabad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281160" y="1691640"/>
            <a:ext cx="2286000" cy="2286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tmp/claude-0/-home-claude-maltwin/b0d3e466-e30c-58b7-82f4-5b5331a1e75f/scratchpad/deck/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182880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 and proposed solution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206240" cy="475488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6751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6459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The problem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3749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IIoT malware mutates into variants that signatures miss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Running malware on real PLCs risks stopping production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Detectors rarely explain their verdict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3886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661" y="400690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3977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Our solution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57200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Static: binary → image → CNN family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Dynamic: network behaviour → model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Fusion + Grad-CAM + MITRE: one explained verdict</a:t>
            </a:r>
            <a:endParaRPr lang="en-US" sz="1500" dirty="0"/>
          </a:p>
        </p:txBody>
      </p:sp>
      <p:pic>
        <p:nvPicPr>
          <p:cNvPr id="12" name="Image 2" descr="/tmp/claude-0/-home-claude-maltwin/b0d3e466-e30c-58b7-82f4-5b5331a1e75f/scratchpad/deck/compone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655" y="1920240"/>
            <a:ext cx="3732490" cy="40233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0" y="6263640"/>
            <a:ext cx="662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UML component diagram: ten modules, static and dynamic paths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Changes since the 30% evaluation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SRS evaluation comments and our response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Revise the use case diagram; not comprehensible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Redrawn in UML as two diagrams; every use case has an ID; Researcher specialises Analyst (generalisation)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S2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symbols joined: not a proper use case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No use case joined by plain lines; only «include» / «extend» dependencies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2.1.1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Use case descriptions do not match the diagram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One full description per use case, same ID and name: 15 of 15; old-to-new mapping table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2.1.2–2.1.3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S4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are too few for an FYP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FRs expanded from 24 to 59, every module covered, each a testable "shall" statement traced to tests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Ch. 2.2, RTM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S5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Formatting: justify text; improve TOC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All text and lists justified; TOC, list of figures and list of tables generated from styles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6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30% evaluation comments and our response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657600"/>
                <a:gridCol w="512064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Committee comment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Action taken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Where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D1–D2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Comments and actions not in SDS; SRS comments not corrected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Response table at the front of Document 4 covering all 15 comments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p. 8–9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D3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First two chapters missing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Chapter 1 Introduction and Chapter 2 Requirements added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1–2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case diagram is not a design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Moved to the requirements chapter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Only one activity and one sequence diagram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10 sequence + 9 activity diagrams, one per major use case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D6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Use the standard database icon in DFDs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Open-ended data store symbol (D1–D3); Levels 0–2 balanced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3.4.2.1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D7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Schema is neither a schema nor an ERD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Crow's-foot ERD + relational schema with PK/FK/CHECK; FK now enforced in the code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3.4.2.3, 3.5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D8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Caption all tables and figures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Every table and figure numbered and captioned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Whole report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D9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Results on the balanced dataset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Balanced training + new class-balanced test evaluation (10 draws, mean ± std)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Ch. 4.2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D10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Diagrams did not follow SE notation (verbal)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All diagrams in UML / Yourdon–DeMarco / crow's foot, with a notation key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F24"/>
                          </a:solidFill>
                        </a:rPr>
                        <a:t>Table 3.4</a:t>
                      </a:r>
                      <a:endParaRPr lang="en-US" sz="12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Redrawn models: use cases, behaviour, data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c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749040" cy="32044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48457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Use cases (UML)</a:t>
            </a:r>
            <a:endParaRPr lang="en-US" sz="1300" dirty="0"/>
          </a:p>
        </p:txBody>
      </p:sp>
      <p:pic>
        <p:nvPicPr>
          <p:cNvPr id="5" name="Image 1" descr="/tmp/claude-0/-home-claude-maltwin/b0d3e466-e30c-58b7-82f4-5b5331a1e75f/scratchpad/deck/sd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234440"/>
            <a:ext cx="3657600" cy="201379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480560" y="329395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Sequence: UC-03 Run Detection (1 of 10)</a:t>
            </a:r>
            <a:endParaRPr lang="en-US" sz="1300" dirty="0"/>
          </a:p>
        </p:txBody>
      </p:sp>
      <p:pic>
        <p:nvPicPr>
          <p:cNvPr id="7" name="Image 2" descr="/tmp/claude-0/-home-claude-maltwin/b0d3e466-e30c-58b7-82f4-5b5331a1e75f/scratchpad/deck/erd_c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770" y="3840480"/>
            <a:ext cx="3471181" cy="210312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48056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ERD (crow's foot)</a:t>
            </a:r>
            <a:endParaRPr lang="en-US" sz="1300" dirty="0"/>
          </a:p>
        </p:txBody>
      </p:sp>
      <p:pic>
        <p:nvPicPr>
          <p:cNvPr id="9" name="Image 3" descr="/tmp/claude-0/-home-claude-maltwin/b0d3e466-e30c-58b7-82f4-5b5331a1e75f/scratchpad/deck/ad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234440"/>
            <a:ext cx="3291840" cy="377139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321040" y="5051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Activity: fusion decision (1 of 9)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Major technical changes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Dynamic analysis + fusion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Network-behaviour model (IoT-23) and a hybrid verdict that flags possible new variants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1618" y="1786738"/>
            <a:ext cx="358445" cy="35844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5727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Benign class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7223760" y="19659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Clean files were always called malware: Malimg has no benign class. Added one from clean system binaries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7724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8" y="3386938"/>
            <a:ext cx="358445" cy="35844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Upload matches training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60020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Uploads now use the same byte layout as the Malimg training images (Nataraj width table)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400800" y="32461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1618" y="3386938"/>
            <a:ext cx="358445" cy="35844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31729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 defects fixed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722376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Crash after every upload, lost navigation clicks, reports never linked to their detection, and more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7724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8" y="4987138"/>
            <a:ext cx="358445" cy="3584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Deeper evaluation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160020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Results on a class-balanced test set, ROC-AUC, false positive rate, unseen-family test</a:t>
            </a:r>
            <a:endParaRPr lang="en-US" sz="1400" dirty="0"/>
          </a:p>
        </p:txBody>
      </p:sp>
      <p:sp>
        <p:nvSpPr>
          <p:cNvPr id="28" name="Shape 21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6400800" y="4846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8" y="4987138"/>
            <a:ext cx="358445" cy="358445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223760" y="47731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Automated testing + RTM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7223760" y="51663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355 automated tests, all passing; 78 tagged tests cover 57 / 57 testable requirements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Implemented modules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8 of 10 modules complete · fusion logic complete · Digital Twin designed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M2 Binary-to-image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PE/ELF magic-byte validation, 50 MB cap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SHA-256 computed locally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Malimg width table → 128×128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M5 CNN + Benign class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 conv blocks, 1.35 M parameters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25 families + Benign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Oversampling for 36:1 imbalance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M7 Grad-CAM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Captum on last conv layer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Heatmap shows which bytes drove the decision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0.5 s worst case on CPU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M8 Reporting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MITRE ATT&amp;CK for ICS, 25/25 families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+ JSON forensic reports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log (WAL, 0600)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Iman — from binary to explained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upl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6" y="1325880"/>
            <a:ext cx="4710989" cy="42062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583680" y="1463040"/>
            <a:ext cx="5029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How it fits the system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static result starts here: the image is the CNN's only input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Confidence colour (green / amber / red) tells the analyst when to trust it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Grad-CAM + MITRE turn a label into evidence an analyst can act 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family confidence is the static half of the hybrid verdict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Upload a binary → Run Detection → Grad-CAM → download the PDF report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implemented modules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96796"/>
            <a:ext cx="384048" cy="38404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M3 / M4 Dataset &amp; balancing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Stratified 70/15/15 split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Rotation, flip, brightness, noise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random oversampling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1470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58902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1796796"/>
            <a:ext cx="384048" cy="38404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8902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M6 Dashboard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8902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pages, Streamlit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Health status of all 10 modules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History, filters, CSV export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08076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35508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956" y="1796796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M9 Dynamic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Zeek conn.log / IoT-23 parser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61 IP-free flow features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forest, 7 behaviours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846820" y="1371600"/>
            <a:ext cx="2491740" cy="4480560"/>
          </a:xfrm>
          <a:prstGeom prst="roundRect">
            <a:avLst>
              <a:gd name="adj" fmla="val 29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121140" y="164592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1796796"/>
            <a:ext cx="384048" cy="38404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21140" y="2514600"/>
            <a:ext cx="19431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M10 Hybrid fusion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21140" y="3246120"/>
            <a:ext cx="19431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Weighted static + dynamic score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Agreement categories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Novel-variant escalation rule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Maaz — behaviour and the hybrid verdict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dynami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520" y="1325880"/>
            <a:ext cx="3505200" cy="4206240"/>
          </a:xfrm>
          <a:prstGeom prst="rect">
            <a:avLst/>
          </a:prstGeom>
        </p:spPr>
      </p:pic>
      <p:pic>
        <p:nvPicPr>
          <p:cNvPr id="4" name="Image 1" descr="/tmp/claude-0/-home-claude-maltwin/b0d3e466-e30c-58b7-82f4-5b5331a1e75f/scratchpad/deck/ui_whati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208" y="1325880"/>
            <a:ext cx="4870383" cy="4206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57150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815584"/>
            <a:ext cx="256032" cy="25603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143000" y="57881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Analyse an IoT-23 capture → open Hybrid Verdict → what-if: static low + dynamic high = NOVEL VARIANT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fusion rule in one picture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≥ 0.50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dynamic &lt; 0.50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&lt; 0.80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532120" y="5623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static ≥ 0.80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37744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Neither view finds malware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532120" y="137160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60720" y="16459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STATIC ONLY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760720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Known family, quiet at runtime: dormant or evasive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37744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NOVEL VARIANT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60604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Behaves maliciously but matches no family: the case MalTwin exists for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532120" y="3474720"/>
            <a:ext cx="3017520" cy="1965960"/>
          </a:xfrm>
          <a:prstGeom prst="roundRect">
            <a:avLst>
              <a:gd name="adj" fmla="val 37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760720" y="3749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CONFIRMED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25196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Known family and malicious behaviour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1463040"/>
            <a:ext cx="27432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fused = (static + dynamic) / 2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MALICIOUS ≥ 0.70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SUSPICIOUS ≥ 0.40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Novel variant is never reported BENIGN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Weights adjustable on the dashboard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Four testing techniques, each for a reason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343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Unit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function in isolation, on synthetic data: no dataset or GPU needed, so it runs on any laptop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6042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3474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555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3474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34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363474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Functional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363474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12 automated UI tests (AppTest) on every run + 22 browser tests (Playwright): uploads, buttons, errors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17220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33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16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Business rules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44652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Decision tables for rules that decide outcomes: upload acceptance, confidence colours, fusion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8983980" y="1371600"/>
            <a:ext cx="2606040" cy="4572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58300" y="16459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9118" y="1786738"/>
            <a:ext cx="358445" cy="358445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58300" y="2468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</a:rPr>
              <a:t>9</a:t>
            </a:r>
            <a:endParaRPr lang="en-US" sz="4800" dirty="0"/>
          </a:p>
        </p:txBody>
      </p:sp>
      <p:sp>
        <p:nvSpPr>
          <p:cNvPr id="25" name="Text 19"/>
          <p:cNvSpPr txBox="1"/>
          <p:nvPr/>
        </p:nvSpPr>
        <p:spPr>
          <a:xfrm>
            <a:off x="9258300" y="3337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Integration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9258300" y="384048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Modules working together: training pipeline, upload → detect → database → dashboard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Results: 0 open failures, 13 defects found and fixed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91440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Test type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Cases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Passed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Failed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Unit (automated)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343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UI (automated, AppTest)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Functional (browser)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22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Business rules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16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Integration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9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Performance (SRS targets)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7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1F24"/>
                          </a:solidFill>
                        </a:rPr>
                        <a:t>0</a:t>
                      </a:r>
                      <a:endParaRPr lang="en-US" sz="1500" dirty="0"/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0" y="1417320"/>
            <a:ext cx="52120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Failed cases → status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  Upload page crashed after every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D2  Navigation click lost after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D4  Training crashed on new PyTorch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D5  Upload image layout ≠ training layout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D9  Detection result wiped on revisiting Upload → fixed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D10 Clean files always called malware → Benign class added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D11 Reports never linked to their detection → FK enforced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re-tested after the fix; full list in report Table 5.30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Automated testing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Strategy and tools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" y="152247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389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pytest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783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Core logic: conversion, CNN, Grad-CAM, reports, dynamic model, fusion, database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514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" y="2665476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32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Streamlit AppTest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926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Dashboard runs headless: clicks Run Detection, checks label, chart, MITRE, DB log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657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" y="3808476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Playwright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4069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Real browser runs of upload → detect → dynamic → hybrid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48640" y="4800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" y="4951476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463040" y="4818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@pytest.mark.rtm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1463040" y="52120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Every automated test ID is a tag on a real test, so the RTM is generated from code</a:t>
            </a:r>
            <a:endParaRPr lang="en-US" sz="1400" dirty="0"/>
          </a:p>
        </p:txBody>
      </p:sp>
      <p:sp>
        <p:nvSpPr>
          <p:cNvPr id="19" name="Shape 13"/>
          <p:cNvSpPr/>
          <p:nvPr/>
        </p:nvSpPr>
        <p:spPr>
          <a:xfrm>
            <a:off x="6400800" y="1371600"/>
            <a:ext cx="5212080" cy="4526280"/>
          </a:xfrm>
          <a:prstGeom prst="roundRect">
            <a:avLst>
              <a:gd name="adj" fmla="val 16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675120" y="1600200"/>
            <a:ext cx="4663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Core use cases automated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UC-01 Upload binary file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UC-03 Run malware detection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UC-06 Generate forensic report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UC-07 Analyse network capture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UC-08 View hybrid verdict</a:t>
            </a:r>
            <a:endParaRPr lang="en-US" sz="16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UC-09 Dashboard and history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Not automated yet: UC-13 / UC-14 Digital Twin (not built), so no tests are claimed for them.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Example automated tests: positive and negative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5486400"/>
                <a:gridCol w="21031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Test ID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checks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 end-to-end: label, chart, MITRE, logged to SQLite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FR5.1–5.3, FR5.5, FR-B3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Non-PE/ELF file rejected with a format error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FR3.1, FR3.5,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AT-M2-08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conversion is pixel-identical to the Malimg layout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AT-M7-03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Invalid Grad-CAM target returns None, no crash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FR-B6, REL-2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Six fusion decision-table cases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AT-M9-02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Empty / non-Zeek log rejected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FR6.1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AT-M5-09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23B33"/>
                          </a:solidFill>
                        </a:rPr>
                        <a:t>negative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Without a Benign class every clean file is flagged (proves the fix is needed)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FR4.14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AT-DB-06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9A47"/>
                          </a:solidFill>
                        </a:rPr>
                        <a:t>positive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Database file permission is 600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SEC-3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Execution evidence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498080" cy="307238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412480" y="1371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355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841248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tests executed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6"/>
                </a:solidFill>
              </a:rPr>
              <a:t>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520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failed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41148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57 / 57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testable requirements traced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5724144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LIVE DEMO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python scripts/generate_rtm.py  (runs every test and regenerates the RTM)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Requirement Traceability Matrix (excerpt)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5120640"/>
                <a:gridCol w="10972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Automated tests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11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Module status on dashboard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AT-M6-01, AT-M6-02, AT-UI-02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FR1.3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Sidebar navigation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AT-UI-01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FR3.1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Upload with validation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AT-M2-03, AT-M2-04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Run detection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AT-M5-02, AT-UI-03, AT-UI-04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FR5.6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PDF / JSON report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AT-M8-03, AT-M8-04, AT-M8-05, AT-UI-05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FR4.12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Results on balanced test set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AT-M5-12, AT-M5-13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FR7.1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Fusion decision rules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AT-M10-01, AT-M10-02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4"/>
                          </a:solidFill>
                        </a:rPr>
                        <a:t>PASS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FR2.1–2.6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Digital Twin controls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 (deferred, not built)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B7280"/>
                          </a:solidFill>
                        </a:rPr>
                        <a:t>—</a:t>
                      </a:r>
                      <a:endParaRPr lang="en-US" sz="1400" dirty="0"/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Full matrix: docs/RTM.md, generated from the test run; every ID is a real test in tests/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/ ML techniques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techniques, chosen for the data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3778" y="1786738"/>
            <a:ext cx="358445" cy="35844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CNN on byte images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Malimg: 9,339 images, 25 families + Benign class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Byte layout preserves file structure; variants of one family look alike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Small network trains on a laptop; Grad-CAM stays readable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2818" y="1786738"/>
            <a:ext cx="358445" cy="35844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Random forest on flows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IoT-23: labelled IoT botnet traffic (Mirai, Okiru, Torii…)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Tabular, heavy-tailed features with extreme imbalance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 importance explains each verdict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457200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21040" y="16459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1858" y="1786738"/>
            <a:ext cx="358445" cy="35844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32104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Decision-level fusion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321040" y="292608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Outputs of both models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36576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with either source alone</a:t>
            </a:r>
            <a:endParaRPr lang="en-US" sz="140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Raises behaviour-only detections as possible new variants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Accuracy, balanced test set (± std)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9768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0" y="1600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Macro F1, balanced test set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46720" y="13716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21040" y="16002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Balanced accuracy / ROC-AUC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06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Clean files called malware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9768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4206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Unseen-family AUROC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0" y="3200400"/>
            <a:ext cx="35204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21040" y="342900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3"/>
                </a:solidFill>
              </a:rPr>
              <a:t>[PENDING]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42062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IoT-23 detection rate / FPR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Measured performance (2-core CPU): inference 26 ms · Grad-CAM 0.49 s · report 10 ms · 100k-row query 0.1 s, all within SRS limits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Next steps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Remaining 40% and how we will handle it</a:t>
            </a:r>
            <a:endParaRPr lang="en-US" sz="3200" dirty="0"/>
          </a:p>
        </p:txBody>
      </p:sp>
      <p:pic>
        <p:nvPicPr>
          <p:cNvPr id="3" name="Image 0" descr="/tmp/claude-0/-home-claude-maltwin/b0d3e466-e30c-58b7-82f4-5b5331a1e75f/scratchpad/deck/ui_t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8966" y="1325880"/>
            <a:ext cx="4658627" cy="4023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39903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130759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Build the Digital Twin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67335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Docker IIoT network: PLC, HMI, sensors, MQTT, sandbox, Zeek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Mininet needs native Linux → Docker networking, runs on WSL2 too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5146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234440" y="24231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Paired evaluation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7889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sample, image + traffic; tune fusion weights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few IIoT samples → Mirai / Gafgyt families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3557016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63016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35387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Broader benign set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904488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Engineering and HMI software, Linux firmware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Risk: false alarms on industrial tools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4672584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47457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465429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Final testing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502005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Usability trial (USE-1), twin tests, RTM to 100%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686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017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Questions and live demo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github.com/imanfatimadocx/MalTwin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lTwin">
  <a:themeElements>
    <a:clrScheme name="MalTwin">
      <a:dk1>
        <a:srgbClr val="1B1F24"/>
      </a:dk1>
      <a:lt1>
        <a:srgbClr val="FFFFFF"/>
      </a:lt1>
      <a:dk2>
        <a:srgbClr val="0D1117"/>
      </a:dk2>
      <a:lt2>
        <a:srgbClr val="F2F4F7"/>
      </a:lt2>
      <a:accent1>
        <a:srgbClr val="E8A020"/>
      </a:accent1>
      <a:accent2>
        <a:srgbClr val="1F7A6D"/>
      </a:accent2>
      <a:accent3>
        <a:srgbClr val="C23B33"/>
      </a:accent3>
      <a:accent4>
        <a:srgbClr val="2F6FD6"/>
      </a:accent4>
      <a:accent5>
        <a:srgbClr val="6B7280"/>
      </a:accent5>
      <a:accent6>
        <a:srgbClr val="2E9A47"/>
      </a:accent6>
      <a:hlink>
        <a:srgbClr val="2F6FD6"/>
      </a:hlink>
      <a:folHlink>
        <a:srgbClr val="6B7280"/>
      </a:folHlink>
    </a:clrScheme>
    <a:fontScheme name="MalTwi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MalTwin — 60% Implementation Evaluation</dc:title>
  <dc:subject>PptxGenJS Presentation</dc:subject>
  <dc:creator>Iman Fatima, Maaz Malik</dc:creator>
  <cp:lastModifiedBy>Iman Fatima, Maaz Malik</cp:lastModifiedBy>
  <cp:revision>1</cp:revision>
  <dcterms:created xsi:type="dcterms:W3CDTF">2026-10-15T15:25:23Z</dcterms:created>
  <dcterms:modified xsi:type="dcterms:W3CDTF">2026-10-15T15:25:23Z</dcterms:modified>
</cp:coreProperties>
</file>