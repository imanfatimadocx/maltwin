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8553df1e-d3b6-35bb-4d96-dc23c70685b7}">
          <p14:sldIdLst>
            <p14:sldId id="256"/>
          </p14:sldIdLst>
        </p14:section>
        <p14:section name="Introduction" id="{e6beafc7-318a-f643-e73f-bd3982b988a5}">
          <p14:sldIdLst>
            <p14:sldId id="257"/>
          </p14:sldIdLst>
        </p14:section>
        <p14:section name="Changes since 30%" id="{723565f1-d06a-a557-f8db-12032674ee62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ed modules" id="{38e0f0bd-cc50-97da-790e-d35f5084a1a6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esting" id="{4bac3380-1da5-4f3c-5665-e9fe5c4c227b}">
          <p14:sldIdLst>
            <p14:sldId id="269"/>
            <p14:sldId id="270"/>
            <p14:sldId id="271"/>
          </p14:sldIdLst>
        </p14:section>
        <p14:section name="Automated testing" id="{25e86322-3987-8b78-3d32-faf71336154d}">
          <p14:sldIdLst>
            <p14:sldId id="272"/>
            <p14:sldId id="273"/>
            <p14:sldId id="274"/>
            <p14:sldId id="275"/>
            <p14:sldId id="276"/>
          </p14:sldIdLst>
        </p14:section>
        <p14:section name="AI / ML techniques" id="{ba898fd5-26f8-d34e-3b9a-7e1e1d795218}">
          <p14:sldIdLst>
            <p14:sldId id="277"/>
            <p14:sldId id="278"/>
            <p14:sldId id="279"/>
            <p14:sldId id="280"/>
            <p14:sldId id="281"/>
          </p14:sldIdLst>
        </p14:section>
        <p14:section name="Next steps" id="{c53165cc-b70c-3a6f-2b52-09fd15c00654}">
          <p14:sldIdLst>
            <p14:sldId id="282"/>
            <p14:sldId id="283"/>
          </p14:sldIdLst>
        </p14:section>
        <p14:section name="Close" id="{fa28578d-68d0-1ce4-ce5b-d41adb479799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MalTwin · 60% Implementation Evaluation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MalTwin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AI-based malware variant detection for Industrial IoT using Digital Twins and visual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60% Implementation Evaluation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Iman Fatima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CIIT/SP23-BCT-021/ISB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Maaz Malik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CIIT/SP23-BCT-025/ISB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Supervisor: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Ms. Najla Raza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BS Cyber Security · COMSATS University Islamabad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281160" y="1691640"/>
            <a:ext cx="2286000" cy="228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tmp/claude-0/-home-claude-maltwin/b0d3e466-e30c-58b7-82f4-5b5331a1e75f/scratchpad/deck/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and proposed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206240" cy="475488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IIoT malware mutates into variants that signatures miss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Running malware on real PLCs risks stopping production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Detectors rarely explain their verdict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400690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977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Our solution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5720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Static: binary → image → CNN family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Dynamic: network behaviour → model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Fusion + Grad-CAM + MITRE: one explained verdict</a:t>
            </a:r>
            <a:endParaRPr lang="en-US" sz="1500" dirty="0"/>
          </a:p>
        </p:txBody>
      </p:sp>
      <p:pic>
        <p:nvPicPr>
          <p:cNvPr id="12" name="Image 2" descr="/tmp/claude-0/-home-claude-maltwin/b0d3e466-e30c-58b7-82f4-5b5331a1e75f/scratchpad/deck/compon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55" y="1920240"/>
            <a:ext cx="3732490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0" y="6263640"/>
            <a:ext cx="662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UML component diagram: ten modules, static and dynamic paths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Changes since the 30% evaluation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SRS evaluation comments and our response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Revise the use case diagram; not comprehensible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Redrawn in UML as two diagrams; every use case has an ID; Researcher specialises Analyst (generalisation)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S2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symbols joined: not a proper use case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No use case joined by plain lines; only «include» / «extend» dependencies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descriptions do not match the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One full description per use case, same ID and name: 15 of 15; old-to-new mapping table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2.1.2–2.1.3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are too few for an FYP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expanded from 24 to 59, every module covered, each a testable "shall" statement traced to tests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2.2, RTM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S5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Formatting: justify text; improve TOC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All text and lists justified; TOC, list of figures and list of tables generated from styles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30% evaluation comments and our response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D1–D2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Comments and actions not in SDS; SRS comments not corrected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Response table at the front of Document 4 covering all 15 comments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p. 8–9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D3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First two chapters missing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Chapter 1 Introduction and Chapter 2 Requirements added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1–2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case diagram is not a design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Moved to the requirements chapter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Only one activity and one sequence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10 sequence + 9 activity diagrams, one per major use case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D6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the standard database icon in DFDs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Open-ended data store symbol (D1–D3); Levels 0–2 balanced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D7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Schema is neither a schema nor an ERD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Crow's-foot ERD + relational schema with PK/FK/CHECK; FK now enforced in the code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3.4.2.3, 3.5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D8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Caption all tables and figures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Every table and figure numbered and captioned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Results on the balanced dataset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Balanced training + new class-balanced test evaluation (10 draws, mean ± std)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4.2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D10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Diagrams did not follow SE notation (verbal)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All diagrams in UML / Yourdon–DeMarco / crow's foot, with a notation key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Table 3.4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Redrawn models: use cases, behaviour, data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4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48457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Use cases (UML)</a:t>
            </a:r>
            <a:endParaRPr lang="en-US" sz="1300" dirty="0"/>
          </a:p>
        </p:txBody>
      </p:sp>
      <p:pic>
        <p:nvPicPr>
          <p:cNvPr id="5" name="Image 1" descr="/tmp/claude-0/-home-claude-maltwin/b0d3e466-e30c-58b7-82f4-5b5331a1e75f/scratchpad/deck/sd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34440"/>
            <a:ext cx="3657600" cy="201379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480560" y="329395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Sequence: UC-03 Run Detection (1 of 10)</a:t>
            </a:r>
            <a:endParaRPr lang="en-US" sz="1300" dirty="0"/>
          </a:p>
        </p:txBody>
      </p:sp>
      <p:pic>
        <p:nvPicPr>
          <p:cNvPr id="7" name="Image 2" descr="/tmp/claude-0/-home-claude-maltwin/b0d3e466-e30c-58b7-82f4-5b5331a1e75f/scratchpad/deck/erd_c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770" y="3840480"/>
            <a:ext cx="3471181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48056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ERD (crow's foot)</a:t>
            </a:r>
            <a:endParaRPr lang="en-US" sz="1300" dirty="0"/>
          </a:p>
        </p:txBody>
      </p:sp>
      <p:pic>
        <p:nvPicPr>
          <p:cNvPr id="9" name="Image 3" descr="/tmp/claude-0/-home-claude-maltwin/b0d3e466-e30c-58b7-82f4-5b5331a1e75f/scratchpad/deck/ad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234440"/>
            <a:ext cx="3291840" cy="377139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321040" y="5051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Activity: fusion decision (1 of 9)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Major technical changes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Dynamic analysis + fusion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Network-behaviour model (IoT-23) and a hybrid verdict that flags possible new variants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618" y="178673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Benign class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files were always called malware: Malimg has no benign class. Added one from clean system binaries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386938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Upload matches training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Uploads now use the same byte layout as the Malimg training images (Nataraj width table)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618" y="3386938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 defects fixed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Crash after every upload, lost navigation clicks, reports never linked to their detection, and more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987138"/>
            <a:ext cx="358445" cy="3584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Deeper evaluation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Results on a class-balanced test set, ROC-AUC, false positive rate, unseen-family test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8" y="4987138"/>
            <a:ext cx="358445" cy="35844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testing + RTM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357 automated tests, all passing; 79 tagged tests cover 57 / 57 testable requirements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Implemented modules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8 of 10 modules complete · fusion logic complete · Digital Twin designed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M2 Binary-to-image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PE/ELF magic-byte validation, 50 MB cap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SHA-256 computed locally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Malimg width table → 128×128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M5 CNN + Benign class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conv blocks, 1.35 M parameters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25 families + Benign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Oversampling for 36:1 imbalance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M7 Grad-CAM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Captum on last conv layer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shows which bytes drove the decision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0.5 s worst case on CPU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M8 Reporting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MITRE ATT&amp;CK for ICS, 25/25 families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+ JSON forensic reports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log (WAL, 0600)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from binary to explained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1325880"/>
            <a:ext cx="4710989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146304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How it fits the system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static result starts here: the image is the CNN's only input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Confidence colour (green / amber / red) tells the analyst when to trust it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Grad-CAM + MITRE turn a label into evidence an analyst can act 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family confidence is the static half of the hybrid verdict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Upload a binary → Run Detection → Grad-CAM → download the PDF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M3 / M4 Dataset &amp; balancing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Stratified 70/15/15 split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Rotation, flip, brightness, noise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random oversampling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M6 Dashboard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8 pages, Streamlit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Health status of all 10 modules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History, filters, CSV export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M9 Dynamic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Zeek conn.log / IoT-23 parser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61 IP-free flow features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forest, 7 behaviours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M10 Hybrid fusion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static + dynamic score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Agreement categories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Novel-variant escalation rule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behaviour and the hybrid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dynam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520" y="1325880"/>
            <a:ext cx="3505200" cy="4206240"/>
          </a:xfrm>
          <a:prstGeom prst="rect">
            <a:avLst/>
          </a:prstGeom>
        </p:spPr>
      </p:pic>
      <p:pic>
        <p:nvPicPr>
          <p:cNvPr id="4" name="Image 1" descr="/tmp/claude-0/-home-claude-maltwin/b0d3e466-e30c-58b7-82f4-5b5331a1e75f/scratchpad/deck/ui_whati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208" y="1325880"/>
            <a:ext cx="4870383" cy="4206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Analyse an IoT-23 capture → open Hybrid Verdict → what-if: static low + dynamic high = NOVEL VARIANT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fusion rule in one picture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≥ 0.50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&lt; 0.50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&lt; 0.80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3212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≥ 0.80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7744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EVIDENCE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Neither view finds malware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3212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072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STATIC ONLY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Known family, quiet at runtime: dormant or evasive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7744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NOVEL VARIANT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60604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Behaves maliciously but matches no family: the case MalTwin exists for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53212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6072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CONFIRMED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Known family and malicious behaviour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1463040"/>
            <a:ext cx="2743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fused = (static + dynamic) / 2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MALICIOUS ≥ 0.70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SUSPICIOUS ≥ 0.40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Novel variant is never reported BENIGN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Weights adjustable on the dashboard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Four testing techniques, each for a reason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344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function in isolation, on synthetic data: no dataset or GPU needed, so it runs on any laptop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042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3474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55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35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Functional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3474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13 automated UI tests (AppTest) on every run + 22 browser tests (Playwright): uploads, buttons, errors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7220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33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16</a:t>
            </a:r>
            <a:endParaRPr lang="en-US" sz="48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Business rules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Decision tables for rules that decide outcomes: upload acceptance, confidence colours, fusion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98398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5830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118" y="178673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830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20</a:t>
            </a:r>
            <a:endParaRPr lang="en-US" sz="4800" dirty="0"/>
          </a:p>
        </p:txBody>
      </p:sp>
      <p:sp>
        <p:nvSpPr>
          <p:cNvPr id="25" name="Text 19"/>
          <p:cNvSpPr txBox="1"/>
          <p:nvPr/>
        </p:nvSpPr>
        <p:spPr>
          <a:xfrm>
            <a:off x="925830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Integration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5830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9 module hand-offs + 11 automated tests on the real dataset and trained model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17 defects found, all fixed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Test type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Cases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Passed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Failed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Unit (automated)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344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344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UI (automated, AppTest)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Functional (browser)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Business rules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Integration (manual)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Integration (real dataset)*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11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Performance (SRS targets)*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0" y="1417320"/>
            <a:ext cx="5212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Failed cases → status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D1  Upload page crashed after every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D2  Navigation click lost after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D4  Training crashed on new PyTorch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D5  Upload image layout ≠ training layout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D9  Detection result wiped on revisiting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D10 Clean files always called malware → Benign class added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D11 Reports never linked to their detection → FK enforced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D14 Two C2LOP families had no MITRE mapping → added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D15 Tests overwrote the real class list → isolated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D16 History query 737 ms &gt; 500 ms → covering index, &lt; 10 ms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Full list in report Table 5.31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40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* First run on the laptop; all causes fixed, re-run before the demo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Strategy and tools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52247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pytest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783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Core logic: conversion, CNN, Grad-CAM, reports, dynamic model, fusion, database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66547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Streamlit AppTest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926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Dashboard runs headless: clicks Run Detection, checks label, chart, MITRE, DB log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8084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Playwright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4069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Real browser runs of upload → detect → dynamic → hybrid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4800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49514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@pytest.mark.rtm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63040" y="5212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automated test ID is a tag on a real test, so the RTM is generated from code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521208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75120" y="1600200"/>
            <a:ext cx="4663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Core use cases automated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UC-01 Upload binary file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UC-03 Run malware detection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UC-06 Generate forensic report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UC-07 Analyse network capture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UC-08 View hybrid 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UC-09 Dashboard and history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Not automated yet: UC-13 / UC-14 Digital Twin (not built), so no tests are claimed for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 automated tests: positive and negative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5486400"/>
                <a:gridCol w="21031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Test ID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checks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 end-to-end: label, chart, MITRE, logged to SQLite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FR5.1–5.3, FR5.5, FR-B3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Non-PE/ELF file rejected with a format error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FR3.1, FR3.5,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AT-M2-08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conversion is pixel-identical to the Malimg layout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AT-M7-03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Invalid Grad-CAM target returns None, no crash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FR-B6,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Six fusion decision-table cases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AT-M9-02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Empty / non-Zeek log rejected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FR6.1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AT-M5-09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Without a Benign class every clean file is flagged (proves the fix is needed)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AT-DB-06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Database file permission is 600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SEC-3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evidence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30723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1371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357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tests executed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failed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1148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57 / 57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testable requirements traced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7241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python scripts/generate_rtm.py  (runs every test and regenerates the RTM)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Requirement Traceability Matrix (excerpt)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512064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Automated tests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Module status on dashboard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AT-M6-01, AT-M6-02, AT-UI-02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Sidebar navigation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with validation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AT-M2-03, AT-M2-04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AT-M5-02, AT-UI-03, AT-UI-04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PDF / JSON report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AT-M8-03, AT-M8-04, AT-M8-05, AT-UI-05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Results on balanced test set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AT-M5-12, AT-M5-13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Fusion decision rules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AT-M10-01, AT-M10-02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FR2.1–2.6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Digital Twin controls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 (deferred, not built)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Full matrix: docs/RTM.md, generated from the test run; every ID is a real test in tests/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/ ML techniques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techniques, chosen for the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CNN on byte images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Malimg: 9,339 images, 25 families + Benign class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Byte layout preserves file structure; variants of one family look alike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Small network trains on a laptop; Grad-CAM stays readable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 forest on flows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IoT-23: labelled IoT botnet traffic (Mirai, Okiru, Torii…)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Tabular, heavy-tailed features with extreme imbalance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importance explains each verdict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Decision-level fusion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Outputs of both models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with either source alone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Raises behaviour-only detections as possible new variants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97.6% ± 0.5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on the class-balanced test 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98.7%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accuracy · macro F1 97.1% · ROC-AUC 0.9997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94.2 → 98.7%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Ablation: accuracy without byte-scrambling augmentation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apps flagged as malware (6.4% confident) — mostly Visual Basic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0.80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Unseen-family AUROC — confidence alone misses new variants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4672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99.997%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IoT-23 malicious flows detected · 0.18% FPR (random split)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Measured on the demo laptop (8-core CPU, no GPU): inference 28 ms · Grad-CAM 0.51 s · report 38 ms · 10k-flow capture 0.32 s · all within SRS limits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Static model: training and errors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res_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22179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589519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Training curves — 30 epochs, no augmentation, best at epoch 29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3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Trained on a balanced dataset: every family drawn equally often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Balanced test set: 97.6% ± 0.5 (10 draws, 12 images × 26 classes)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test-set malware was classified as Benign (precision 1.00)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Main confusion: Swizzor.gen!E vs Swizzor.gen!I — near-identical variants</a:t>
            </a:r>
            <a:endParaRPr lang="en-US" sz="1500" dirty="0"/>
          </a:p>
        </p:txBody>
      </p:sp>
      <p:pic>
        <p:nvPicPr>
          <p:cNvPr id="6" name="Image 1" descr="/tmp/claude-0/-home-claude-maltwin/b0d3e466-e30c-58b7-82f4-5b5331a1e75f/scratchpad/deck/res_confusion_matr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754880" cy="440769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0" y="573357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Confusion matrix, 26 classes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 the dashboard: right, wrong and clean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ss_detect_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350" y="1280160"/>
            <a:ext cx="4312980" cy="2240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5478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Held-out Adialer.C test image → correct, 100%</a:t>
            </a:r>
            <a:endParaRPr lang="en-US" sz="1200" dirty="0"/>
          </a:p>
        </p:txBody>
      </p:sp>
      <p:pic>
        <p:nvPicPr>
          <p:cNvPr id="5" name="Image 1" descr="/tmp/claude-0/-home-claude-maltwin/b0d3e466-e30c-58b7-82f4-5b5331a1e75f/scratchpad/deck/ss_detect_wr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071" y="1280160"/>
            <a:ext cx="3628658" cy="2240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72200" y="35478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Swizzor.gen!I → called Swizzor.gen!E (right family, wrong variant)</a:t>
            </a:r>
            <a:endParaRPr lang="en-US" sz="1200" dirty="0"/>
          </a:p>
        </p:txBody>
      </p:sp>
      <p:pic>
        <p:nvPicPr>
          <p:cNvPr id="7" name="Image 2" descr="/tmp/claude-0/-home-claude-maltwin/b0d3e466-e30c-58b7-82f4-5b5331a1e75f/scratchpad/deck/ss_benig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781" y="3886200"/>
            <a:ext cx="2652117" cy="16002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551383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Clean clang64.exe → Benign, 99.5%</a:t>
            </a:r>
            <a:endParaRPr lang="en-US" sz="1200" dirty="0"/>
          </a:p>
        </p:txBody>
      </p:sp>
      <p:pic>
        <p:nvPicPr>
          <p:cNvPr id="9" name="Image 3" descr="/tmp/claude-0/-home-claude-maltwin/b0d3e466-e30c-58b7-82f4-5b5331a1e75f/scratchpad/deck/ss_dynam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2419" y="3886200"/>
            <a:ext cx="2985961" cy="16002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172200" y="551383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Dynamic model on IoT-23: 100% detection, 0.2% FPR</a:t>
            </a:r>
            <a:endParaRPr lang="en-US" sz="1200" dirty="0"/>
          </a:p>
        </p:txBody>
      </p:sp>
      <p:sp>
        <p:nvSpPr>
          <p:cNvPr id="11" name="Shape 5"/>
          <p:cNvSpPr/>
          <p:nvPr/>
        </p:nvSpPr>
        <p:spPr>
          <a:xfrm>
            <a:off x="548640" y="5852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5952744"/>
            <a:ext cx="256032" cy="25603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43000" y="59253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Binary Upload → "Malimg test-set sample" tab → Load → Run Detection (ground truth shown)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Remaining 40% and how we will handle it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t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8966" y="1325880"/>
            <a:ext cx="4658627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3990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13075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Build the Digital Twin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67335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Docker IIoT network: PLC, HMI, sensors, MQTT, sandbox, Zeek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Mininet needs native Linux → Docker networking, runs on WSL2 too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14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4231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Paired evaluation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788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sample, image + traffic; tune fusion weights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few IIoT samples → Mirai / Gafgyt families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57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630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5387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Broader benign set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90448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Engineering and HMI software, Linux firmware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false alarms on industrial tools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67258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745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46542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Final testing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502005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Usability trial (USE-1), twin tests, RTM to 100%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Questions and live demo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github.com/imanfatimadocx/MalTwin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lTwin">
  <a:themeElements>
    <a:clrScheme name="MalTwin">
      <a:dk1>
        <a:srgbClr val="1B1F24"/>
      </a:dk1>
      <a:lt1>
        <a:srgbClr val="FFFFFF"/>
      </a:lt1>
      <a:dk2>
        <a:srgbClr val="0D1117"/>
      </a:dk2>
      <a:lt2>
        <a:srgbClr val="F2F4F7"/>
      </a:lt2>
      <a:accent1>
        <a:srgbClr val="E8A020"/>
      </a:accent1>
      <a:accent2>
        <a:srgbClr val="1F7A6D"/>
      </a:accent2>
      <a:accent3>
        <a:srgbClr val="C23B33"/>
      </a:accent3>
      <a:accent4>
        <a:srgbClr val="2F6FD6"/>
      </a:accent4>
      <a:accent5>
        <a:srgbClr val="6B7280"/>
      </a:accent5>
      <a:accent6>
        <a:srgbClr val="2E9A47"/>
      </a:accent6>
      <a:hlink>
        <a:srgbClr val="2F6FD6"/>
      </a:hlink>
      <a:folHlink>
        <a:srgbClr val="6B7280"/>
      </a:folHlink>
    </a:clrScheme>
    <a:fontScheme name="Mal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MalTwin — 60% Implementation Evaluation</dc:title>
  <dc:subject>PptxGenJS Presentation</dc:subject>
  <dc:creator>Iman Fatima, Maaz Malik</dc:creator>
  <cp:lastModifiedBy>Iman Fatima, Maaz Malik</cp:lastModifiedBy>
  <cp:revision>1</cp:revision>
  <dcterms:created xsi:type="dcterms:W3CDTF">2026-10-16T16:52:46Z</dcterms:created>
  <dcterms:modified xsi:type="dcterms:W3CDTF">2026-10-16T16:52:46Z</dcterms:modified>
</cp:coreProperties>
</file>